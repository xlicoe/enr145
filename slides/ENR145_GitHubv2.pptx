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92" r:id="rId3"/>
    <p:sldId id="289" r:id="rId4"/>
    <p:sldId id="290" r:id="rId5"/>
    <p:sldId id="291" r:id="rId6"/>
    <p:sldId id="293" r:id="rId7"/>
    <p:sldId id="294" r:id="rId8"/>
    <p:sldId id="295" r:id="rId9"/>
    <p:sldId id="297" r:id="rId10"/>
    <p:sldId id="298" r:id="rId11"/>
    <p:sldId id="29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aramond" panose="02020404030301010803" pitchFamily="18" charset="0"/>
      <p:regular r:id="rId18"/>
      <p:bold r:id="rId19"/>
      <p:italic r:id="rId20"/>
      <p:boldItalic r:id="rId21"/>
    </p:embeddedFont>
    <p:embeddedFont>
      <p:font typeface="Merriweather Sans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Cr+zONHTDYInLoljlAuQsenNc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3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96B217-83C7-4143-A2F9-2B9E93E24F44}">
  <a:tblStyle styleId="{B396B217-83C7-4143-A2F9-2B9E93E24F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84F3098-81EC-4EAD-ACE7-ABB2035FAD2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96D3CF-6F0C-40D1-B4EA-F96254824D34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9246EA3-2109-4182-A011-CD2E98EB347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9"/>
    <p:restoredTop sz="94534"/>
  </p:normalViewPr>
  <p:slideViewPr>
    <p:cSldViewPr snapToGrid="0">
      <p:cViewPr varScale="1">
        <p:scale>
          <a:sx n="104" d="100"/>
          <a:sy n="104" d="100"/>
        </p:scale>
        <p:origin x="14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2442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8466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8732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6559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9665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9787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6418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61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9949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217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5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6"/>
          <p:cNvSpPr txBox="1">
            <a:spLocks noGrp="1"/>
          </p:cNvSpPr>
          <p:nvPr>
            <p:ph type="title"/>
          </p:nvPr>
        </p:nvSpPr>
        <p:spPr>
          <a:xfrm>
            <a:off x="609600" y="72072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body" idx="1"/>
          </p:nvPr>
        </p:nvSpPr>
        <p:spPr>
          <a:xfrm>
            <a:off x="609600" y="187166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>
            <a:spLocks noGrp="1"/>
          </p:cNvSpPr>
          <p:nvPr>
            <p:ph type="title"/>
          </p:nvPr>
        </p:nvSpPr>
        <p:spPr>
          <a:xfrm>
            <a:off x="963084" y="4902199"/>
            <a:ext cx="10363200" cy="10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ans"/>
              <a:buChar char="▸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»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-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ans"/>
              <a:buChar char="▸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»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-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>
            <a:spLocks noGrp="1"/>
          </p:cNvSpPr>
          <p:nvPr>
            <p:ph type="title"/>
          </p:nvPr>
        </p:nvSpPr>
        <p:spPr>
          <a:xfrm>
            <a:off x="608544" y="39211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▸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»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-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▸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»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-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609600" y="4143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title"/>
          </p:nvPr>
        </p:nvSpPr>
        <p:spPr>
          <a:xfrm>
            <a:off x="609603" y="520700"/>
            <a:ext cx="4011084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aramond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1"/>
          </p:nvPr>
        </p:nvSpPr>
        <p:spPr>
          <a:xfrm>
            <a:off x="4766733" y="520699"/>
            <a:ext cx="6815667" cy="560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2"/>
          </p:nvPr>
        </p:nvSpPr>
        <p:spPr>
          <a:xfrm>
            <a:off x="609603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 Sans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AFAFA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aramond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 Sans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609600" y="47577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 rot="5400000">
            <a:off x="3833019" y="-734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609600" y="47577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 sz="4000" b="1" i="0" u="none" strike="noStrike" cap="none">
                <a:solidFill>
                  <a:schemeClr val="lt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ithub.com/en/pages/" TargetMode="External"/><Relationship Id="rId5" Type="http://schemas.openxmlformats.org/officeDocument/2006/relationships/hyperlink" Target="https://docs.github.com/en/get-started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ollections/github-pages-examples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licoe/klotski-state-space-tutoria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github.com/xlicoe/klotski-state-space-tutorial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hyperlink" Target="https://docs.github.com/en/get-started/writing-on-github/getting-started-with-writing-and-formatting-on-github/basic-writing-and-formatting-syntax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ctrTitle"/>
          </p:nvPr>
        </p:nvSpPr>
        <p:spPr>
          <a:xfrm>
            <a:off x="690953" y="1621083"/>
            <a:ext cx="10966744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1D2125"/>
              </a:buClr>
            </a:pPr>
            <a:r>
              <a:rPr lang="en-US" b="1" i="0" dirty="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ENR145 </a:t>
            </a:r>
            <a:r>
              <a:rPr lang="en-US" dirty="0">
                <a:solidFill>
                  <a:srgbClr val="1D2125"/>
                </a:solidFill>
                <a:latin typeface="Arial"/>
                <a:cs typeface="Arial"/>
              </a:rPr>
              <a:t>Computational Methods</a:t>
            </a:r>
            <a:br>
              <a:rPr lang="en-US" dirty="0">
                <a:solidFill>
                  <a:srgbClr val="1D2125"/>
                </a:solidFill>
                <a:latin typeface="Arial"/>
                <a:cs typeface="Arial"/>
              </a:rPr>
            </a:br>
            <a:r>
              <a:rPr lang="en-US" dirty="0">
                <a:solidFill>
                  <a:srgbClr val="1D2125"/>
                </a:solidFill>
                <a:latin typeface="Arial"/>
                <a:cs typeface="Arial"/>
              </a:rPr>
              <a:t>Digital toolbox: GitHub and webpage hosting</a:t>
            </a:r>
            <a:endParaRPr dirty="0">
              <a:solidFill>
                <a:srgbClr val="1D2125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rPr>
              <a:t>Xiang Li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383838"/>
                </a:solidFill>
                <a:latin typeface="Arial"/>
                <a:cs typeface="Arial"/>
                <a:sym typeface="Arial"/>
              </a:rPr>
              <a:t>Spring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Brain storming session: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2261918" y="2530885"/>
            <a:ext cx="93160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What site would be fun to build in class?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Let’s generate a list of 3~5 together.</a:t>
            </a:r>
          </a:p>
        </p:txBody>
      </p:sp>
    </p:spTree>
    <p:extLst>
      <p:ext uri="{BB962C8B-B14F-4D97-AF65-F5344CB8AC3E}">
        <p14:creationId xmlns:p14="http://schemas.microsoft.com/office/powerpoint/2010/main" val="35380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20CB8D-E70B-4DD4-AEB7-013AC612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45" y="1467329"/>
            <a:ext cx="4572000" cy="45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FD2E8F-25FA-4C31-851E-4EA4C6F79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855" y="1467329"/>
            <a:ext cx="4572000" cy="4572000"/>
          </a:xfrm>
          <a:prstGeom prst="rect">
            <a:avLst/>
          </a:prstGeom>
        </p:spPr>
      </p:pic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Portals to detailed guides and documentation: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EBA17-F1BD-49A0-8748-31B7C40CD975}"/>
              </a:ext>
            </a:extLst>
          </p:cNvPr>
          <p:cNvSpPr txBox="1"/>
          <p:nvPr/>
        </p:nvSpPr>
        <p:spPr>
          <a:xfrm>
            <a:off x="1509486" y="1267274"/>
            <a:ext cx="407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GitHub docs</a:t>
            </a:r>
            <a:endParaRPr lang="en-US" sz="2000" b="1" dirty="0">
              <a:solidFill>
                <a:schemeClr val="accent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6604002" y="1267274"/>
            <a:ext cx="4078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GitHub pages</a:t>
            </a:r>
            <a:endParaRPr lang="en-US" sz="2000" b="1" dirty="0">
              <a:solidFill>
                <a:schemeClr val="accent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8458B-9EE5-4626-92F1-B7AF8DB27981}"/>
              </a:ext>
            </a:extLst>
          </p:cNvPr>
          <p:cNvSpPr txBox="1"/>
          <p:nvPr/>
        </p:nvSpPr>
        <p:spPr>
          <a:xfrm>
            <a:off x="1403927" y="5762330"/>
            <a:ext cx="30849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https://docs.github.com/en/get-started</a:t>
            </a:r>
            <a:r>
              <a:rPr lang="en-US" sz="12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52F166-7446-40B0-9C00-CE7346C955CE}"/>
              </a:ext>
            </a:extLst>
          </p:cNvPr>
          <p:cNvSpPr txBox="1"/>
          <p:nvPr/>
        </p:nvSpPr>
        <p:spPr>
          <a:xfrm>
            <a:off x="6548584" y="5794999"/>
            <a:ext cx="38977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6"/>
              </a:rPr>
              <a:t>https://docs.github.com/en/pages/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780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Backstage of a GitHub site: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1218719" y="6466266"/>
            <a:ext cx="33532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https://xlicoe.github.io/Base_Systems_Abacus/</a:t>
            </a:r>
            <a:endParaRPr lang="en-US" sz="1200" dirty="0">
              <a:solidFill>
                <a:schemeClr val="accent2">
                  <a:lumMod val="10000"/>
                </a:schemeClr>
              </a:solidFill>
              <a:latin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D1D193-B87F-450B-BEA9-26C2EBE1574C}"/>
              </a:ext>
            </a:extLst>
          </p:cNvPr>
          <p:cNvGrpSpPr/>
          <p:nvPr/>
        </p:nvGrpSpPr>
        <p:grpSpPr>
          <a:xfrm>
            <a:off x="1320617" y="1508218"/>
            <a:ext cx="3096194" cy="4958048"/>
            <a:chOff x="3787206" y="1696752"/>
            <a:chExt cx="4051928" cy="65008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02F839-3F6A-4D82-A811-9D560E44E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59" r="4159"/>
            <a:stretch/>
          </p:blipFill>
          <p:spPr>
            <a:xfrm>
              <a:off x="3787207" y="1696752"/>
              <a:ext cx="4051927" cy="251847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1A7BC0-0C9B-423A-82D9-1BA58DC9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7207" y="4215231"/>
              <a:ext cx="4051927" cy="16177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13B8A29-5536-4D5D-A7CB-BBB4EA82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7206" y="5798638"/>
              <a:ext cx="4051927" cy="239892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C3F911-2540-49F6-B96A-2DBB8ED81B7C}"/>
              </a:ext>
            </a:extLst>
          </p:cNvPr>
          <p:cNvSpPr txBox="1"/>
          <p:nvPr/>
        </p:nvSpPr>
        <p:spPr>
          <a:xfrm>
            <a:off x="4692879" y="1508218"/>
            <a:ext cx="726099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GitHub Pages is a static site hosting service that takes </a:t>
            </a:r>
          </a:p>
          <a:p>
            <a:pPr marL="342900" marR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ffectLst/>
                <a:latin typeface="+mj-lt"/>
                <a:ea typeface="Times New Roman" panose="02020603050405020304" pitchFamily="18" charset="0"/>
              </a:rPr>
              <a:t>HTML</a:t>
            </a:r>
          </a:p>
          <a:p>
            <a:pPr marL="342900" marR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ffectLst/>
                <a:latin typeface="+mj-lt"/>
                <a:ea typeface="Times New Roman" panose="02020603050405020304" pitchFamily="18" charset="0"/>
              </a:rPr>
              <a:t>CSS</a:t>
            </a:r>
          </a:p>
          <a:p>
            <a:pPr marL="342900" marR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ffectLst/>
                <a:latin typeface="+mj-lt"/>
                <a:ea typeface="Times New Roman" panose="02020603050405020304" pitchFamily="18" charset="0"/>
              </a:rPr>
              <a:t>and JavaScript</a:t>
            </a:r>
            <a:endParaRPr lang="en-US" sz="2000" dirty="0">
              <a:solidFill>
                <a:schemeClr val="accent2">
                  <a:lumMod val="10000"/>
                </a:schemeClr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straight from a </a:t>
            </a:r>
            <a:r>
              <a:rPr lang="en-US" sz="2000" b="1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repository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 on GitHub, optionally runs the files through a </a:t>
            </a:r>
            <a:r>
              <a:rPr lang="en-US" sz="2000" b="1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build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 process, and </a:t>
            </a:r>
            <a:r>
              <a:rPr lang="en-US" sz="2000" b="1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publishes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 a website.</a:t>
            </a:r>
          </a:p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You can see examples of GitHub Pages sites in the </a:t>
            </a:r>
            <a:r>
              <a:rPr lang="en-US" sz="2000" u="sng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Pages examples collection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29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Backstage of a GitHub site: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AD975-FBFC-454A-8D49-4BD7FA64B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7659"/>
            <a:ext cx="12192000" cy="55603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8D91FB-41DB-4C48-B223-D1D2F49D9143}"/>
              </a:ext>
            </a:extLst>
          </p:cNvPr>
          <p:cNvSpPr txBox="1"/>
          <p:nvPr/>
        </p:nvSpPr>
        <p:spPr>
          <a:xfrm>
            <a:off x="1666239" y="4270911"/>
            <a:ext cx="1071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120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HTML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27290-F9CE-4687-8E09-9B90D276C18F}"/>
              </a:ext>
            </a:extLst>
          </p:cNvPr>
          <p:cNvSpPr txBox="1"/>
          <p:nvPr/>
        </p:nvSpPr>
        <p:spPr>
          <a:xfrm rot="16200000">
            <a:off x="-344358" y="3301944"/>
            <a:ext cx="107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Repo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D2E5CA9-A387-454B-AE48-80921EAE6C30}"/>
              </a:ext>
            </a:extLst>
          </p:cNvPr>
          <p:cNvSpPr/>
          <p:nvPr/>
        </p:nvSpPr>
        <p:spPr>
          <a:xfrm>
            <a:off x="380807" y="2903292"/>
            <a:ext cx="447040" cy="1680079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89C5C62A-1A34-4819-88BC-E3D2D86FEBCC}"/>
              </a:ext>
            </a:extLst>
          </p:cNvPr>
          <p:cNvSpPr/>
          <p:nvPr/>
        </p:nvSpPr>
        <p:spPr>
          <a:xfrm>
            <a:off x="1950085" y="3149340"/>
            <a:ext cx="252095" cy="307777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0E708F-4DB5-4E4F-A44B-9EED9CCC8BAF}"/>
              </a:ext>
            </a:extLst>
          </p:cNvPr>
          <p:cNvSpPr txBox="1"/>
          <p:nvPr/>
        </p:nvSpPr>
        <p:spPr>
          <a:xfrm>
            <a:off x="661098" y="3130290"/>
            <a:ext cx="1360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120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Build related…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F9F649A2-4F0B-499B-A6EC-7537218DD102}"/>
              </a:ext>
            </a:extLst>
          </p:cNvPr>
          <p:cNvSpPr/>
          <p:nvPr/>
        </p:nvSpPr>
        <p:spPr>
          <a:xfrm>
            <a:off x="1950084" y="3513304"/>
            <a:ext cx="252095" cy="72214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EEAFB-F722-46A1-B32C-055D57DDC01B}"/>
              </a:ext>
            </a:extLst>
          </p:cNvPr>
          <p:cNvSpPr txBox="1"/>
          <p:nvPr/>
        </p:nvSpPr>
        <p:spPr>
          <a:xfrm>
            <a:off x="670622" y="3571024"/>
            <a:ext cx="1360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Documentation</a:t>
            </a:r>
          </a:p>
          <a:p>
            <a:pPr marR="0">
              <a:spcBef>
                <a:spcPts val="0"/>
              </a:spcBef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Times New Roman" panose="02020603050405020304" pitchFamily="18" charset="0"/>
              </a:rPr>
              <a:t>Version control</a:t>
            </a:r>
          </a:p>
          <a:p>
            <a:pPr marR="0">
              <a:spcBef>
                <a:spcPts val="0"/>
              </a:spcBef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52193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Vibe coding session (1/2):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831850" y="1441347"/>
            <a:ext cx="795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Prompting and getting a working html code from Gemini: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9A2017-8C31-45C9-A77E-FA4D17FE81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03" t="39016" r="59609" b="19806"/>
          <a:stretch/>
        </p:blipFill>
        <p:spPr>
          <a:xfrm>
            <a:off x="962025" y="2368566"/>
            <a:ext cx="4832361" cy="2273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72395-43C4-493B-B570-E918DD942A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69" t="50000" r="63828" b="20083"/>
          <a:stretch/>
        </p:blipFill>
        <p:spPr>
          <a:xfrm>
            <a:off x="5895975" y="2368566"/>
            <a:ext cx="5577774" cy="227320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1667A6-4267-4CB8-982F-72FF9FA75FAA}"/>
              </a:ext>
            </a:extLst>
          </p:cNvPr>
          <p:cNvSpPr/>
          <p:nvPr/>
        </p:nvSpPr>
        <p:spPr>
          <a:xfrm>
            <a:off x="4067176" y="3736975"/>
            <a:ext cx="1482724" cy="231776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AC0020-E087-4EAC-9805-4C0F021702C9}"/>
              </a:ext>
            </a:extLst>
          </p:cNvPr>
          <p:cNvSpPr/>
          <p:nvPr/>
        </p:nvSpPr>
        <p:spPr>
          <a:xfrm>
            <a:off x="4067176" y="4222750"/>
            <a:ext cx="1482724" cy="231776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068B08-0CE7-4496-8B35-54C6F6960648}"/>
              </a:ext>
            </a:extLst>
          </p:cNvPr>
          <p:cNvSpPr/>
          <p:nvPr/>
        </p:nvSpPr>
        <p:spPr>
          <a:xfrm>
            <a:off x="6680835" y="3956052"/>
            <a:ext cx="1748789" cy="231776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5EF1A-2251-4852-850F-A0A617A3A7ED}"/>
              </a:ext>
            </a:extLst>
          </p:cNvPr>
          <p:cNvSpPr txBox="1"/>
          <p:nvPr/>
        </p:nvSpPr>
        <p:spPr>
          <a:xfrm>
            <a:off x="962024" y="1937570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1: Pick a model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A5B17-F028-4C39-88FC-0B7564C96319}"/>
              </a:ext>
            </a:extLst>
          </p:cNvPr>
          <p:cNvSpPr txBox="1"/>
          <p:nvPr/>
        </p:nvSpPr>
        <p:spPr>
          <a:xfrm>
            <a:off x="5849258" y="1982796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2: Pick a tool (Canvas)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765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Vibe coding session (2/2):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876300" y="1368441"/>
            <a:ext cx="795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Prompting and getting a working html code from Gemini: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5EF1A-2251-4852-850F-A0A617A3A7ED}"/>
              </a:ext>
            </a:extLst>
          </p:cNvPr>
          <p:cNvSpPr txBox="1"/>
          <p:nvPr/>
        </p:nvSpPr>
        <p:spPr>
          <a:xfrm>
            <a:off x="1087622" y="1852309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3: Prompt: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A5B17-F028-4C39-88FC-0B7564C96319}"/>
              </a:ext>
            </a:extLst>
          </p:cNvPr>
          <p:cNvSpPr txBox="1"/>
          <p:nvPr/>
        </p:nvSpPr>
        <p:spPr>
          <a:xfrm>
            <a:off x="1087621" y="2322635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4: Iteration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AF2A12-B467-4337-B223-BF664E48E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4" t="42608" r="49" b="9354"/>
          <a:stretch/>
        </p:blipFill>
        <p:spPr>
          <a:xfrm>
            <a:off x="3063091" y="1890313"/>
            <a:ext cx="7795260" cy="3204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AAC691-B01B-44E5-B888-7FBFEFD59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94" y="2762544"/>
            <a:ext cx="4749488" cy="3758975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ACE30E-8863-4F86-804C-5CB1809EC1FF}"/>
              </a:ext>
            </a:extLst>
          </p:cNvPr>
          <p:cNvSpPr/>
          <p:nvPr/>
        </p:nvSpPr>
        <p:spPr>
          <a:xfrm>
            <a:off x="9572625" y="5943600"/>
            <a:ext cx="2390775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516EC7-2F91-4776-BB76-9DD803569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7504" y="2762544"/>
            <a:ext cx="4704786" cy="380052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DDB6EC-76B4-4600-946B-F6871FD91896}"/>
              </a:ext>
            </a:extLst>
          </p:cNvPr>
          <p:cNvSpPr/>
          <p:nvPr/>
        </p:nvSpPr>
        <p:spPr>
          <a:xfrm>
            <a:off x="4638675" y="2913045"/>
            <a:ext cx="441324" cy="37143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ED1597-7D77-483B-B074-3C45CF2A1837}"/>
              </a:ext>
            </a:extLst>
          </p:cNvPr>
          <p:cNvSpPr/>
          <p:nvPr/>
        </p:nvSpPr>
        <p:spPr>
          <a:xfrm>
            <a:off x="9505950" y="2773911"/>
            <a:ext cx="441324" cy="37143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1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0289" y="326415"/>
            <a:ext cx="8839200" cy="7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Workflow of publishing a site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062CE-0B85-4348-9349-74C22484A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2" t="28179" r="67331" b="59677"/>
          <a:stretch/>
        </p:blipFill>
        <p:spPr>
          <a:xfrm>
            <a:off x="1798240" y="1279273"/>
            <a:ext cx="1717101" cy="9661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A55D3F4-DF05-430D-A6A1-E8387330EA8A}"/>
              </a:ext>
            </a:extLst>
          </p:cNvPr>
          <p:cNvGrpSpPr/>
          <p:nvPr/>
        </p:nvGrpSpPr>
        <p:grpSpPr>
          <a:xfrm>
            <a:off x="5387503" y="1229839"/>
            <a:ext cx="5174960" cy="1000565"/>
            <a:chOff x="2516982" y="1926236"/>
            <a:chExt cx="5181941" cy="9265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7094A3-251F-4F3B-BFAC-A7B325915F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4025"/>
            <a:stretch/>
          </p:blipFill>
          <p:spPr>
            <a:xfrm>
              <a:off x="2516982" y="1926236"/>
              <a:ext cx="2997994" cy="9265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B1B573-F49D-43E5-BDB7-5C60E19527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1184" r="-106"/>
            <a:stretch/>
          </p:blipFill>
          <p:spPr>
            <a:xfrm>
              <a:off x="5514976" y="1926236"/>
              <a:ext cx="2183947" cy="926502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2559C67-CBB8-4AB4-AD18-ADB37EA8C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240" y="2652270"/>
            <a:ext cx="8764223" cy="609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ADC568-AE94-4514-936E-5E42958321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501" r="42257"/>
          <a:stretch/>
        </p:blipFill>
        <p:spPr>
          <a:xfrm>
            <a:off x="1798240" y="3441191"/>
            <a:ext cx="1478459" cy="31235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DC74D2-7852-4057-A4F3-8E90CD68A9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572" y="4289644"/>
            <a:ext cx="2286791" cy="89547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89EB68-522A-4441-ABDB-72C53BB31810}"/>
              </a:ext>
            </a:extLst>
          </p:cNvPr>
          <p:cNvSpPr/>
          <p:nvPr/>
        </p:nvSpPr>
        <p:spPr>
          <a:xfrm>
            <a:off x="1650289" y="1599678"/>
            <a:ext cx="2090737" cy="282925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0BA6BEC-192D-41FC-B969-B5A91F47286B}"/>
              </a:ext>
            </a:extLst>
          </p:cNvPr>
          <p:cNvSpPr/>
          <p:nvPr/>
        </p:nvSpPr>
        <p:spPr>
          <a:xfrm>
            <a:off x="9510713" y="1299143"/>
            <a:ext cx="933533" cy="282925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62CE21-E0D1-4260-8058-0A7D3018EABB}"/>
              </a:ext>
            </a:extLst>
          </p:cNvPr>
          <p:cNvSpPr/>
          <p:nvPr/>
        </p:nvSpPr>
        <p:spPr>
          <a:xfrm>
            <a:off x="8970302" y="2555846"/>
            <a:ext cx="1045369" cy="838283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C2ADD4-D919-4437-A79B-39C3A60821E7}"/>
              </a:ext>
            </a:extLst>
          </p:cNvPr>
          <p:cNvSpPr/>
          <p:nvPr/>
        </p:nvSpPr>
        <p:spPr>
          <a:xfrm>
            <a:off x="1694978" y="6146855"/>
            <a:ext cx="1748902" cy="417890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2DCF7D-8E01-425D-8E0E-CE7878D9715B}"/>
              </a:ext>
            </a:extLst>
          </p:cNvPr>
          <p:cNvSpPr/>
          <p:nvPr/>
        </p:nvSpPr>
        <p:spPr>
          <a:xfrm>
            <a:off x="4365816" y="4794277"/>
            <a:ext cx="1243499" cy="388201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Hourglass Finished with solid fill">
            <a:extLst>
              <a:ext uri="{FF2B5EF4-FFF2-40B4-BE49-F238E27FC236}">
                <a16:creationId xmlns:a16="http://schemas.microsoft.com/office/drawing/2014/main" id="{D3EC3544-EC2C-4B45-A504-0FB13A0214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80" y="3948334"/>
            <a:ext cx="914400" cy="9144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1E72894-2155-4510-8ADE-329B009AD218}"/>
              </a:ext>
            </a:extLst>
          </p:cNvPr>
          <p:cNvSpPr/>
          <p:nvPr/>
        </p:nvSpPr>
        <p:spPr>
          <a:xfrm>
            <a:off x="9572625" y="5943600"/>
            <a:ext cx="2390775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18D67F-9E56-44BD-8B63-4D5A409F117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" r="-16"/>
          <a:stretch/>
        </p:blipFill>
        <p:spPr>
          <a:xfrm>
            <a:off x="4416696" y="5934406"/>
            <a:ext cx="6196559" cy="736271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A30E3D7-0874-4BFA-9115-0D7C1DF37745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3741026" y="1440606"/>
            <a:ext cx="5769687" cy="300535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EE78E2D-C246-469A-B565-94C9E25F163E}"/>
              </a:ext>
            </a:extLst>
          </p:cNvPr>
          <p:cNvCxnSpPr>
            <a:endCxn id="20" idx="0"/>
          </p:cNvCxnSpPr>
          <p:nvPr/>
        </p:nvCxnSpPr>
        <p:spPr>
          <a:xfrm rot="5400000">
            <a:off x="9228263" y="1864403"/>
            <a:ext cx="956168" cy="426719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56C3D9C-2519-447E-8610-65EEE738C1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94978" y="3026182"/>
            <a:ext cx="7275324" cy="3355729"/>
          </a:xfrm>
          <a:prstGeom prst="bentConnector3">
            <a:avLst>
              <a:gd name="adj1" fmla="val 103815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EB5CE26-2659-4EC4-88AF-23075B24F1B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3443880" y="4988378"/>
            <a:ext cx="921936" cy="136742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318B51-922F-4E2C-929B-D70980F189A3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 rot="5400000" flipH="1" flipV="1">
            <a:off x="5965051" y="2970849"/>
            <a:ext cx="1234144" cy="3189114"/>
          </a:xfrm>
          <a:prstGeom prst="bentConnector5">
            <a:avLst>
              <a:gd name="adj1" fmla="val -18523"/>
              <a:gd name="adj2" fmla="val 52580"/>
              <a:gd name="adj3" fmla="val 134988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918CC0C-B0B6-4DC5-A1AF-FA76C8CA01D9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 rot="5400000">
            <a:off x="7309992" y="5067718"/>
            <a:ext cx="1071672" cy="66170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B52E8D66-22F3-4E43-AD9C-374B226EB6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7082" y="3699426"/>
            <a:ext cx="2156173" cy="169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2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55864"/>
            <a:ext cx="12192000" cy="7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Some sites don’t publish, but have a good README file to explain everything: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04C203-5F53-4D9B-BE5E-E5DF478981E8}"/>
              </a:ext>
            </a:extLst>
          </p:cNvPr>
          <p:cNvSpPr txBox="1"/>
          <p:nvPr/>
        </p:nvSpPr>
        <p:spPr>
          <a:xfrm>
            <a:off x="3048000" y="16835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https://github.com/xlicoe/klotski-state-space-tutorial</a:t>
            </a:r>
            <a:r>
              <a:rPr lang="en-US" sz="2000" dirty="0"/>
              <a:t>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2A9B81-8A21-4ABA-9EF5-69848D7E5EA3}"/>
              </a:ext>
            </a:extLst>
          </p:cNvPr>
          <p:cNvSpPr/>
          <p:nvPr/>
        </p:nvSpPr>
        <p:spPr>
          <a:xfrm>
            <a:off x="7988301" y="5943600"/>
            <a:ext cx="3975100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6EF0F-244D-4891-9255-4DDE3976A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678" y="2278222"/>
            <a:ext cx="8916644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2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911521-1830-4E63-9779-D0280E60B3A1}"/>
              </a:ext>
            </a:extLst>
          </p:cNvPr>
          <p:cNvSpPr/>
          <p:nvPr/>
        </p:nvSpPr>
        <p:spPr>
          <a:xfrm>
            <a:off x="7988301" y="5943600"/>
            <a:ext cx="3975100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10250"/>
            <a:ext cx="12192000" cy="7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Some sites don’t publish, but with a good README file to explain everything: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04C203-5F53-4D9B-BE5E-E5DF478981E8}"/>
              </a:ext>
            </a:extLst>
          </p:cNvPr>
          <p:cNvSpPr txBox="1"/>
          <p:nvPr/>
        </p:nvSpPr>
        <p:spPr>
          <a:xfrm>
            <a:off x="3048000" y="16835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https://github.com/xlicoe/klotski-state-space-tutorial</a:t>
            </a:r>
            <a:r>
              <a:rPr lang="en-US" sz="2000" dirty="0"/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D6F639-398F-4663-8479-DBD0F9A33A91}"/>
              </a:ext>
            </a:extLst>
          </p:cNvPr>
          <p:cNvGrpSpPr/>
          <p:nvPr/>
        </p:nvGrpSpPr>
        <p:grpSpPr>
          <a:xfrm>
            <a:off x="2571750" y="2121801"/>
            <a:ext cx="7512050" cy="4560964"/>
            <a:chOff x="3048000" y="2274601"/>
            <a:chExt cx="5954738" cy="31576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E0E239-5FAD-48DC-B8DF-B0D77F3BC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274601"/>
              <a:ext cx="1847679" cy="175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BBECDE-116F-41D1-BB83-DF89D678CF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1575"/>
            <a:stretch/>
          </p:blipFill>
          <p:spPr>
            <a:xfrm>
              <a:off x="3048000" y="4031012"/>
              <a:ext cx="1847679" cy="140127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629FE6-2657-47D4-A7DA-80D6E7BC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8819" y="2285287"/>
              <a:ext cx="1847679" cy="177120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98650E-F0D2-488E-AEA5-F45778857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08819" y="4056489"/>
              <a:ext cx="1847679" cy="137580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59D69A3-10BC-4A09-A4CC-C2D813A5C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69638" y="2274601"/>
              <a:ext cx="2033100" cy="3147003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BC64966-2108-40C9-99A2-0003686BD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52" y="4806340"/>
            <a:ext cx="1876425" cy="18764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96FF52-39CD-4D0C-A280-54089CFC1A03}"/>
              </a:ext>
            </a:extLst>
          </p:cNvPr>
          <p:cNvSpPr txBox="1"/>
          <p:nvPr/>
        </p:nvSpPr>
        <p:spPr>
          <a:xfrm>
            <a:off x="133552" y="4394565"/>
            <a:ext cx="1974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</a:rPr>
              <a:t>Basic writing and formatting syntax: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2E45E6-FF98-4B63-97A0-8D22688DEC37}"/>
              </a:ext>
            </a:extLst>
          </p:cNvPr>
          <p:cNvSpPr txBox="1"/>
          <p:nvPr/>
        </p:nvSpPr>
        <p:spPr>
          <a:xfrm>
            <a:off x="133552" y="6616924"/>
            <a:ext cx="10083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10"/>
              </a:rPr>
              <a:t>https://docs.github.com/en/get-started/writing-on-github/getting-started-with-writing-and-formatting-on-github/basic-writing-and-formatting-syntax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445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What if?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AA96-2AB1-471E-B63F-839EA6C7F302}"/>
              </a:ext>
            </a:extLst>
          </p:cNvPr>
          <p:cNvSpPr txBox="1"/>
          <p:nvPr/>
        </p:nvSpPr>
        <p:spPr>
          <a:xfrm>
            <a:off x="2410691" y="2721053"/>
            <a:ext cx="79617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Get your own site up as assignment?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1357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e College 2014">
      <a:dk1>
        <a:srgbClr val="FFFFFE"/>
      </a:dk1>
      <a:lt1>
        <a:srgbClr val="D29847"/>
      </a:lt1>
      <a:dk2>
        <a:srgbClr val="9E0818"/>
      </a:dk2>
      <a:lt2>
        <a:srgbClr val="9E0818"/>
      </a:lt2>
      <a:accent1>
        <a:srgbClr val="D29847"/>
      </a:accent1>
      <a:accent2>
        <a:srgbClr val="E1E1E1"/>
      </a:accent2>
      <a:accent3>
        <a:srgbClr val="C8C8C8"/>
      </a:accent3>
      <a:accent4>
        <a:srgbClr val="AFAFAF"/>
      </a:accent4>
      <a:accent5>
        <a:srgbClr val="FFFFFF"/>
      </a:accent5>
      <a:accent6>
        <a:srgbClr val="D29847"/>
      </a:accent6>
      <a:hlink>
        <a:srgbClr val="D29847"/>
      </a:hlink>
      <a:folHlink>
        <a:srgbClr val="0091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299</Words>
  <Application>Microsoft Office PowerPoint</Application>
  <PresentationFormat>Widescreen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Garamond</vt:lpstr>
      <vt:lpstr>Calibri</vt:lpstr>
      <vt:lpstr>Merriweather Sans</vt:lpstr>
      <vt:lpstr>Office Theme</vt:lpstr>
      <vt:lpstr>ENR145 Computational Methods Digital toolbox: GitHub and webpage hosting</vt:lpstr>
      <vt:lpstr>Brain storming session:</vt:lpstr>
      <vt:lpstr>Portals to detailed guides and documentation:</vt:lpstr>
      <vt:lpstr>Backstage of a GitHub site:</vt:lpstr>
      <vt:lpstr>Backstage of a GitHub site:</vt:lpstr>
      <vt:lpstr>Vibe coding session (1/2):</vt:lpstr>
      <vt:lpstr>Vibe coding session (2/2):</vt:lpstr>
      <vt:lpstr>Workflow of publishing a site</vt:lpstr>
      <vt:lpstr>Some sites don’t publish, but have a good README file to explain everything:</vt:lpstr>
      <vt:lpstr>Some sites don’t publish, but with a good README file to explain everything:</vt:lpstr>
      <vt:lpstr>What if?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ENR145 Computational Methods for Physicists and Engineers</dc:title>
  <dc:creator>Diana</dc:creator>
  <cp:lastModifiedBy>Xiang Li</cp:lastModifiedBy>
  <cp:revision>28</cp:revision>
  <dcterms:created xsi:type="dcterms:W3CDTF">2010-04-12T23:12:02Z</dcterms:created>
  <dcterms:modified xsi:type="dcterms:W3CDTF">2026-01-23T03:17:40Z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